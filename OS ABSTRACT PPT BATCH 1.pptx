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63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282" autoAdjust="0"/>
    <p:restoredTop sz="94660"/>
  </p:normalViewPr>
  <p:slideViewPr>
    <p:cSldViewPr snapToGrid="0">
      <p:cViewPr varScale="1">
        <p:scale>
          <a:sx n="42" d="100"/>
          <a:sy n="42" d="100"/>
        </p:scale>
        <p:origin x="6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68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70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25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73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21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6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9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5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74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3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220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2324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13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8299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19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75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00C104-2EC6-4E71-89FA-53B05749785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0DF7EA-A483-474D-AF81-835DC12D2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04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2973388" cy="2971801"/>
          </a:xfrm>
        </p:spPr>
        <p:txBody>
          <a:bodyPr>
            <a:normAutofit/>
          </a:bodyPr>
          <a:lstStyle/>
          <a:p>
            <a:r>
              <a:rPr lang="en-IN" sz="8000" b="1" dirty="0" smtClean="0">
                <a:latin typeface="Bahnschrift Condensed" panose="020B0502040204020203" pitchFamily="34" charset="0"/>
                <a:cs typeface="Times New Roman" panose="02020603050405020304" pitchFamily="18" charset="0"/>
              </a:rPr>
              <a:t>System calls</a:t>
            </a:r>
            <a:endParaRPr lang="en-IN" sz="8000" b="1" dirty="0">
              <a:latin typeface="Bahnschrif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202" y="4180751"/>
            <a:ext cx="6400800" cy="1947333"/>
          </a:xfrm>
        </p:spPr>
        <p:txBody>
          <a:bodyPr>
            <a:normAutofit/>
          </a:bodyPr>
          <a:lstStyle/>
          <a:p>
            <a:r>
              <a:rPr lang="en-IN" sz="44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Guided By: </a:t>
            </a:r>
            <a:r>
              <a:rPr lang="en-IN" sz="44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Dr.</a:t>
            </a:r>
            <a:r>
              <a:rPr lang="en-IN" sz="44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</a:t>
            </a:r>
            <a:r>
              <a:rPr lang="en-IN" sz="44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Alekhya</a:t>
            </a:r>
            <a:r>
              <a:rPr lang="en-IN" sz="44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D</a:t>
            </a:r>
            <a:endParaRPr lang="en-IN" sz="44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80339" y="681787"/>
            <a:ext cx="51655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>
                <a:latin typeface="Bahnschrift Condensed" panose="020B0502040204020203" pitchFamily="34" charset="0"/>
              </a:rPr>
              <a:t>Team Members Details</a:t>
            </a:r>
          </a:p>
          <a:p>
            <a:endParaRPr lang="en-IN" sz="4400" dirty="0" smtClean="0">
              <a:latin typeface="Bahnschrift Condensed" panose="020B0502040204020203" pitchFamily="34" charset="0"/>
            </a:endParaRPr>
          </a:p>
          <a:p>
            <a:r>
              <a:rPr lang="en-IN" sz="4400" dirty="0" smtClean="0">
                <a:latin typeface="Bahnschrift Condensed" panose="020B0502040204020203" pitchFamily="34" charset="0"/>
              </a:rPr>
              <a:t>2520090142 – </a:t>
            </a:r>
            <a:r>
              <a:rPr lang="en-IN" sz="4400" dirty="0" err="1" smtClean="0">
                <a:latin typeface="Bahnschrift Condensed" panose="020B0502040204020203" pitchFamily="34" charset="0"/>
              </a:rPr>
              <a:t>Surendra</a:t>
            </a:r>
            <a:endParaRPr lang="en-IN" sz="4400" dirty="0" smtClean="0">
              <a:latin typeface="Bahnschrift Condensed" panose="020B0502040204020203" pitchFamily="34" charset="0"/>
            </a:endParaRPr>
          </a:p>
          <a:p>
            <a:r>
              <a:rPr lang="en-IN" sz="4400" dirty="0" smtClean="0">
                <a:latin typeface="Bahnschrift Condensed" panose="020B0502040204020203" pitchFamily="34" charset="0"/>
              </a:rPr>
              <a:t>2520080058 – </a:t>
            </a:r>
            <a:r>
              <a:rPr lang="en-IN" sz="4400" dirty="0" err="1" smtClean="0">
                <a:latin typeface="Bahnschrift Condensed" panose="020B0502040204020203" pitchFamily="34" charset="0"/>
              </a:rPr>
              <a:t>Anirudh</a:t>
            </a:r>
            <a:endParaRPr lang="en-IN" sz="4400" dirty="0">
              <a:latin typeface="Bahnschrift Condensed" panose="020B0502040204020203" pitchFamily="34" charset="0"/>
            </a:endParaRPr>
          </a:p>
          <a:p>
            <a:r>
              <a:rPr lang="en-IN" sz="4400" dirty="0" smtClean="0">
                <a:latin typeface="Bahnschrift Condensed" panose="020B0502040204020203" pitchFamily="34" charset="0"/>
              </a:rPr>
              <a:t>2520090091 - </a:t>
            </a:r>
            <a:r>
              <a:rPr lang="en-IN" sz="4400" dirty="0" err="1" smtClean="0">
                <a:latin typeface="Bahnschrift Condensed" panose="020B0502040204020203" pitchFamily="34" charset="0"/>
              </a:rPr>
              <a:t>Rohit</a:t>
            </a:r>
            <a:endParaRPr lang="en-IN" sz="4400" dirty="0" smtClean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>
                <a:latin typeface="Bahnschrift Condensed" panose="020B0502040204020203" pitchFamily="34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Project Title and Team Members</a:t>
            </a:r>
          </a:p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Abstract</a:t>
            </a:r>
          </a:p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Problem Statement</a:t>
            </a:r>
          </a:p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Motivation</a:t>
            </a:r>
          </a:p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13145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Literature Survey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Research Gap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Proposed Methodology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System Architecture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Technologies Used</a:t>
            </a:r>
            <a:endParaRPr lang="en-IN" sz="50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0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Dataset / Input Details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Implementation</a:t>
            </a:r>
          </a:p>
          <a:p>
            <a:r>
              <a:rPr lang="en-IN" sz="5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Experimental Setup</a:t>
            </a:r>
          </a:p>
          <a:p>
            <a:r>
              <a:rPr lang="en-IN" sz="5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Results</a:t>
            </a:r>
          </a:p>
          <a:p>
            <a:r>
              <a:rPr lang="en-IN" sz="5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Performance Evaluation</a:t>
            </a:r>
          </a:p>
          <a:p>
            <a:endParaRPr lang="en-IN" sz="50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75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62" y="1405890"/>
            <a:ext cx="8534400" cy="3615267"/>
          </a:xfrm>
        </p:spPr>
        <p:txBody>
          <a:bodyPr>
            <a:noAutofit/>
          </a:bodyPr>
          <a:lstStyle/>
          <a:p>
            <a:r>
              <a:rPr lang="en-IN" sz="36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Screenshots </a:t>
            </a:r>
            <a:r>
              <a:rPr lang="en-IN" sz="36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/ Working Demo</a:t>
            </a:r>
          </a:p>
          <a:p>
            <a:r>
              <a:rPr lang="en-IN" sz="36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Comparison with Existing System</a:t>
            </a:r>
          </a:p>
          <a:p>
            <a:r>
              <a:rPr lang="en-IN" sz="36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Challenges and </a:t>
            </a:r>
            <a:r>
              <a:rPr lang="en-IN" sz="36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Solutions</a:t>
            </a:r>
          </a:p>
          <a:p>
            <a:r>
              <a:rPr lang="en-IN" sz="36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Future Work</a:t>
            </a:r>
          </a:p>
          <a:p>
            <a:r>
              <a:rPr lang="en-IN" sz="36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Conclusion</a:t>
            </a:r>
          </a:p>
          <a:p>
            <a:r>
              <a:rPr lang="en-IN" sz="36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References</a:t>
            </a:r>
          </a:p>
          <a:p>
            <a:endParaRPr lang="en-IN" sz="36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06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ABSTRACT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This project focuses on designing, integrating, and evaluating custom system calls within an open-source OS kernel. It addresses context-switching latency by registering new dispatch table entries, implementing secure trap handlers, and benchmarking cycle efficiency.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08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PROBLEM STATEMENT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Standard POSIX system calls introduce significant context-switching overhead and latency for specialized tasks. Developers require custom, secure kernel-level interfaces to safely execute high-frequency operations without causing panics or vulnerabilities.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62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MOTIVATION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Generic system calls create performance bottlenecks during frequent user-kernel transitions. Developing custom kernel interfaces minimizes context-switching latency, optimizes resource access, and deepens critical understanding of low-level system architecture.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OBJECTIVES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This project registers custom system calls in the kernel table, implements secure trap handlers and memory validation, builds a testing application, and benchmarks CPU cycle efficiency against standard POSIX interfaces.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5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Literature survey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Existing research highlights context-switching overhead in standard POSIX calls. Studies demonstrate that direct kernel extensions and optimized trap handlers significantly reduce latency and CPU cycle costs for high-frequency operations.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10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Literature survey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Existing research highlights context-switching overhead in standard POSIX calls. Studies demonstrate that direct kernel extensions and optimized trap handlers significantly reduce latency and CPU cycle costs for high-frequency operations.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69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8534400" cy="1507067"/>
          </a:xfrm>
        </p:spPr>
        <p:txBody>
          <a:bodyPr>
            <a:noAutofit/>
          </a:bodyPr>
          <a:lstStyle/>
          <a:p>
            <a:r>
              <a:rPr lang="en-IN" sz="10000" dirty="0" smtClean="0">
                <a:latin typeface="Bahnschrift Condensed" panose="020B0502040204020203" pitchFamily="34" charset="0"/>
              </a:rPr>
              <a:t>RESEARCH GAP</a:t>
            </a:r>
            <a:endParaRPr lang="en-IN" sz="10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Standard POSIX interfaces lack lightweight mechanisms for specialized, high-frequency operations. Existing studies focus on general abstractions, leaving a gap in evaluating custom </a:t>
            </a:r>
            <a:r>
              <a:rPr lang="en-IN" sz="40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syscall</a:t>
            </a:r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performance and secure user-kernel memory validation.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0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05861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Proposed methodology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We will modify the kernel </a:t>
            </a:r>
            <a:r>
              <a:rPr lang="en-US" sz="40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syscall</a:t>
            </a:r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table, write secure trap handlers, enforce memory checks using </a:t>
            </a:r>
            <a:r>
              <a:rPr lang="en-US" sz="40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copy_from_user</a:t>
            </a:r>
            <a:r>
              <a:rPr lang="en-US" sz="4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and </a:t>
            </a:r>
            <a:r>
              <a:rPr lang="en-US" sz="40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copy_to_user</a:t>
            </a:r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, compile the OS in QEMU, and benchmark execution latency using RDTSC.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4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05861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System architecture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5400">
                <a:solidFill>
                  <a:schemeClr val="tx1"/>
                </a:solidFill>
                <a:latin typeface="Bahnschrift Condensed" panose="020B0502040204020203" pitchFamily="34" charset="0"/>
              </a:rPr>
              <a:t>The architecture links a user-space C application to custom kernel routines via unique syscall IDs</a:t>
            </a:r>
            <a:endParaRPr lang="en-IN" sz="54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31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05861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TECHNOLOGIES USED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This project utilizes Ubuntu Linux, C/C++ programming, GCC compiler, GNU Make/</a:t>
            </a:r>
            <a:r>
              <a:rPr lang="en-IN" sz="40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Kbuild</a:t>
            </a:r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, QEMU/</a:t>
            </a:r>
            <a:r>
              <a:rPr lang="en-IN" sz="40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VirtualBox</a:t>
            </a:r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virtualization, RDTSC hardware instructions for latency benchmarking, and Git for version control.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081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05861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DATASET / INPUT DETAILS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Inputs include custom system call parameters (file paths, memory buffers) passed from a user-space C application, tested with both valid and intentionally malformed payloads to verify robust kernel validation.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305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05861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Implementation 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464" y="1999916"/>
            <a:ext cx="10089466" cy="398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355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411536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Experimental setup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Testing will be conducted in a QEMU-hosted Ubuntu environment, invoking custom system calls via C scripts using normal and malformed inputs while measuring CPU clock cycle overhead via RDTSC.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0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411536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results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The custom system call implementation successfully reduced context-switching bottlenecks. RDTSC benchmarking demonstrated lower CPU cycle latency and execution overhead during high-frequency operations compared to standard POSIX calls.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90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64" y="492848"/>
            <a:ext cx="11411536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Performance evaluation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Performance was evaluated by tracking CPU clock cycles with the RDTSC instruction during repetitive iteration stress-tests, measuring context-switch latency and memory overhead across varying data payload sizes.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8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9000" dirty="0" smtClean="0">
                <a:latin typeface="Bahnschrift Condensed" panose="020B0502040204020203" pitchFamily="34" charset="0"/>
              </a:rPr>
              <a:t>Screenshots / working demo</a:t>
            </a:r>
            <a:endParaRPr lang="en-IN" sz="9000" dirty="0">
              <a:latin typeface="Bahnschrift Condensed" panose="020B0502040204020203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" y="2370138"/>
            <a:ext cx="9464040" cy="3614737"/>
          </a:xfrm>
        </p:spPr>
      </p:pic>
    </p:spTree>
    <p:extLst>
      <p:ext uri="{BB962C8B-B14F-4D97-AF65-F5344CB8AC3E}">
        <p14:creationId xmlns:p14="http://schemas.microsoft.com/office/powerpoint/2010/main" val="3336463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8000" dirty="0" smtClean="0">
                <a:latin typeface="Bahnschrift Condensed" panose="020B0502040204020203" pitchFamily="34" charset="0"/>
              </a:rPr>
              <a:t>Comparison with existing system</a:t>
            </a:r>
            <a:endParaRPr lang="en-IN" sz="8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Standard POSIX system calls introduce significant context-switching overhead and redundant data buffering. In contrast, our custom kernel interface minimizes transition bottlenecks, offering lower CPU cycle latency for specialized tasks.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56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8000" dirty="0" smtClean="0">
                <a:latin typeface="Bahnschrift Condensed" panose="020B0502040204020203" pitchFamily="34" charset="0"/>
              </a:rPr>
              <a:t>Challenges and solutions</a:t>
            </a:r>
            <a:endParaRPr lang="en-IN" sz="8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Challenge:</a:t>
            </a:r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User-kernel transitions risk kernel panics and unauthorized memory access. </a:t>
            </a:r>
            <a:r>
              <a:rPr lang="en-US" sz="4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Solution:</a:t>
            </a:r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Embed strict pointer validation </a:t>
            </a:r>
            <a:r>
              <a:rPr lang="en-US" sz="4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using </a:t>
            </a:r>
            <a:r>
              <a:rPr lang="en-US" sz="40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copy_from_user</a:t>
            </a:r>
            <a:r>
              <a:rPr lang="en-US" sz="4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and </a:t>
            </a:r>
            <a:r>
              <a:rPr lang="en-US" sz="40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copy_to_user</a:t>
            </a:r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, and safely test custom code inside isolated QEMU sandbox environments.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409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8000" dirty="0" smtClean="0">
                <a:latin typeface="Bahnschrift Condensed" panose="020B0502040204020203" pitchFamily="34" charset="0"/>
              </a:rPr>
              <a:t>Future work</a:t>
            </a:r>
            <a:endParaRPr lang="en-IN" sz="8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Future enhancements will extend custom system calls to support multi-threaded architectures, integrate automated security auditing, optimize memory mapping, and benchmark performance across diverse hardware architectures and cloud environments.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7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8000" dirty="0" smtClean="0">
                <a:latin typeface="Bahnschrift Condensed" panose="020B0502040204020203" pitchFamily="34" charset="0"/>
              </a:rPr>
              <a:t>conclusion</a:t>
            </a:r>
            <a:endParaRPr lang="en-IN" sz="8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This project successfully integrated custom system calls into the Linux kernel, demonstrating that direct kernel-level execution and strict memory validation significantly reduce context-switching latency and CPU cycle overhead.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73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2848"/>
            <a:ext cx="12192000" cy="1507067"/>
          </a:xfrm>
        </p:spPr>
        <p:txBody>
          <a:bodyPr>
            <a:noAutofit/>
          </a:bodyPr>
          <a:lstStyle/>
          <a:p>
            <a:r>
              <a:rPr lang="en-IN" sz="8000" dirty="0" smtClean="0">
                <a:latin typeface="Bahnschrift Condensed" panose="020B0502040204020203" pitchFamily="34" charset="0"/>
              </a:rPr>
              <a:t>references</a:t>
            </a:r>
            <a:endParaRPr lang="en-IN" sz="8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64" y="2370221"/>
            <a:ext cx="8534400" cy="361526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This project successfully integrated custom system calls into the Linux kernel, demonstrating that direct kernel-level execution and strict memory validation significantly reduce context-switching latency and CPU cycle overhead. </a:t>
            </a:r>
            <a:endParaRPr lang="en-IN" sz="4000" dirty="0" smtClean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173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204</TotalTime>
  <Words>705</Words>
  <Application>Microsoft Office PowerPoint</Application>
  <PresentationFormat>Widescreen</PresentationFormat>
  <Paragraphs>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Bahnschrift Condensed</vt:lpstr>
      <vt:lpstr>Century Gothic</vt:lpstr>
      <vt:lpstr>Times New Roman</vt:lpstr>
      <vt:lpstr>Wingdings 3</vt:lpstr>
      <vt:lpstr>Slice</vt:lpstr>
      <vt:lpstr>System calls</vt:lpstr>
      <vt:lpstr>Contents</vt:lpstr>
      <vt:lpstr>PowerPoint Presentation</vt:lpstr>
      <vt:lpstr>PowerPoint Presentation</vt:lpstr>
      <vt:lpstr>PowerPoint Presentation</vt:lpstr>
      <vt:lpstr>ABSTRACT</vt:lpstr>
      <vt:lpstr>PROBLEM STATEMENT</vt:lpstr>
      <vt:lpstr>MOTIVATION</vt:lpstr>
      <vt:lpstr>OBJECTIVES</vt:lpstr>
      <vt:lpstr>Literature survey</vt:lpstr>
      <vt:lpstr>Literature survey</vt:lpstr>
      <vt:lpstr>RESEARCH GAP</vt:lpstr>
      <vt:lpstr>Proposed methodology</vt:lpstr>
      <vt:lpstr>System architecture</vt:lpstr>
      <vt:lpstr>TECHNOLOGIES USED</vt:lpstr>
      <vt:lpstr>DATASET / INPUT DETAILS</vt:lpstr>
      <vt:lpstr>Implementation </vt:lpstr>
      <vt:lpstr>Experimental setup</vt:lpstr>
      <vt:lpstr>results</vt:lpstr>
      <vt:lpstr>Performance evaluation</vt:lpstr>
      <vt:lpstr>Screenshots / working demo</vt:lpstr>
      <vt:lpstr>Comparison with existing system</vt:lpstr>
      <vt:lpstr>Challenges and solutions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</dc:title>
  <dc:creator>Sairohit</dc:creator>
  <cp:lastModifiedBy>Sairohit</cp:lastModifiedBy>
  <cp:revision>18</cp:revision>
  <dcterms:created xsi:type="dcterms:W3CDTF">2026-09-21T12:26:55Z</dcterms:created>
  <dcterms:modified xsi:type="dcterms:W3CDTF">2026-10-05T08:41:34Z</dcterms:modified>
</cp:coreProperties>
</file>